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5" r:id="rId6"/>
    <p:sldId id="278" r:id="rId7"/>
    <p:sldId id="287" r:id="rId8"/>
    <p:sldId id="289" r:id="rId9"/>
    <p:sldId id="290" r:id="rId10"/>
    <p:sldId id="260" r:id="rId11"/>
    <p:sldId id="291" r:id="rId12"/>
    <p:sldId id="288" r:id="rId13"/>
    <p:sldId id="281" r:id="rId14"/>
    <p:sldId id="292" r:id="rId15"/>
    <p:sldId id="286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2FB5A1-A7BE-43CF-AABE-9D2ECD028688}">
          <p14:sldIdLst>
            <p14:sldId id="256"/>
            <p14:sldId id="285"/>
            <p14:sldId id="278"/>
            <p14:sldId id="287"/>
            <p14:sldId id="289"/>
          </p14:sldIdLst>
        </p14:section>
        <p14:section name="Раздел без заголовка" id="{193128C2-6DDE-4E7E-8DE3-6D2246B5292C}">
          <p14:sldIdLst>
            <p14:sldId id="290"/>
            <p14:sldId id="260"/>
            <p14:sldId id="291"/>
            <p14:sldId id="288"/>
            <p14:sldId id="281"/>
            <p14:sldId id="292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1EE"/>
    <a:srgbClr val="839A5E"/>
    <a:srgbClr val="646552"/>
    <a:srgbClr val="3E4047"/>
    <a:srgbClr val="8F939C"/>
    <a:srgbClr val="8D929B"/>
    <a:srgbClr val="C0C9C2"/>
    <a:srgbClr val="A5A5A5"/>
    <a:srgbClr val="BEB9AA"/>
    <a:srgbClr val="AA9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3" autoAdjust="0"/>
    <p:restoredTop sz="93595" autoAdjust="0"/>
  </p:normalViewPr>
  <p:slideViewPr>
    <p:cSldViewPr snapToGrid="0">
      <p:cViewPr varScale="1">
        <p:scale>
          <a:sx n="75" d="100"/>
          <a:sy n="75" d="100"/>
        </p:scale>
        <p:origin x="58" y="158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3AFD89-2FB2-4AD6-BE5B-8BA0B611A84E}" type="datetime1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8A06BE-7519-4B21-9E1D-AE6D6E69C3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4T18:40:58.1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935F0F-680A-477E-89A7-E55DB4F994FC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A9B2C62-FE30-453D-946B-754E9E42C84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Междустрочный интервал + номера страниц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A9B2C62-FE30-453D-946B-754E9E42C84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939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20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142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31FF-09AA-1586-9510-5D0CBF78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6B1EE2C-0105-D6F2-CFDC-6B0A76256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2A6395-74FF-EDE3-DA72-1AA233436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DBA1EF-176C-9141-71DB-C2CC9FE75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6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21AA-6B4B-B18E-CED5-A6ABD503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FE3E5D-A631-4CEC-4778-3D1F79CEB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327AB2C-DC75-0945-05E4-30FCC763B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684EC5-4A4F-65A9-58C6-63029289E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005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341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CDC6-3BA5-3A71-DF36-CA15ED16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064A5C-BCC5-26D7-0E19-A888F387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13E717-1A7A-BBF0-5E22-06204952B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51C79B-82C4-22C2-C5C9-91E3D6569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882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207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089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3B01-FE2A-D59E-1997-1E0917A6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1412B7-5655-0302-596B-7580CB179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D19747-F8EE-0DF8-4967-02B6899F1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669DB2-F617-553F-F8C9-139BB08BB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161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9B2C62-FE30-453D-946B-754E9E42C84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01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8700" y="5078187"/>
            <a:ext cx="3222058" cy="964620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 rtlCol="0"/>
          <a:lstStyle/>
          <a:p>
            <a:pPr rtl="0"/>
            <a:endParaRPr lang="ru-RU" noProof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8050" y="2000250"/>
            <a:ext cx="4667250" cy="3398837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5" name="Дата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03901B0-087A-4299-B2C8-2034E02C9E85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36" name="Номер слайда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Образец заголовка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01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0130" y="2009775"/>
            <a:ext cx="3924300" cy="4391025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2C01A0D-FF72-4447-88D0-8914B6D3AF39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31" name="Номер слайда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Текст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02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график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Дата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D78771C-2EFA-449B-9B8D-71A361448AA1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Дата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4FAF3B9-7219-4B33-BDD7-3AC14FB6AFD7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 rtlCol="0"/>
          <a:lstStyle/>
          <a:p>
            <a:pPr rtl="0"/>
            <a:endParaRPr lang="ru-RU" noProof="0"/>
          </a:p>
        </p:txBody>
      </p:sp>
      <p:pic>
        <p:nvPicPr>
          <p:cNvPr id="4" name="Рисунок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rtlCol="0"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Дата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89EEB08-2B8A-46FE-80D6-9FBE1CD53BFE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54075" y="1625600"/>
            <a:ext cx="10499725" cy="4860925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Текст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01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22" name="Рисунок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23" name="Рисунок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24" name="Рисунок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25" name="Рисунок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49FEB12-820A-4445-8413-A43585783410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31" name="Номер слайда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Имя</a:t>
            </a:r>
          </a:p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Имя</a:t>
            </a:r>
          </a:p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Имя</a:t>
            </a:r>
          </a:p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8" name="Текст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Имя</a:t>
            </a:r>
          </a:p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Имя</a:t>
            </a:r>
          </a:p>
          <a:p>
            <a:pPr lvl="0" rtl="0"/>
            <a:r>
              <a:rPr lang="ru-RU" noProof="0"/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1 столбцом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rtl="0"/>
            <a:endParaRPr lang="ru-RU" sz="1600" noProof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7" name="Дата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987EFF5-A4FB-4777-9762-D1AD95B38CA7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0" i="0" u="none" strike="noStrike" kern="1200" cap="none" spc="0" normalizeH="0" noProof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Вставьте текст</a:t>
            </a:r>
            <a:endParaRPr lang="ru-RU" sz="140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ru-RU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0" i="0" u="none" strike="noStrike" kern="1200" cap="none" spc="0" normalizeH="0" noProof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Вставьте текст</a:t>
            </a:r>
            <a:endParaRPr lang="ru-RU" sz="140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ru-RU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0" i="0" u="none" strike="noStrike" kern="1200" cap="none" spc="0" normalizeH="0" noProof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Вставьте текст</a:t>
            </a:r>
            <a:endParaRPr lang="ru-RU" sz="140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rtl="0"/>
            <a:endParaRPr lang="ru-RU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Дата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7D2634C-4A07-472A-8645-44DC8099FC9C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ru-RU"/>
              <a:t>Заголовок слайда</a:t>
            </a:r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Дата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756AC48-54A4-47B7-99A2-CDF9B3E1881B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10" name="Рисунок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11" name="Текст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 rtlCol="0"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01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0130" y="2009776"/>
            <a:ext cx="3924300" cy="2849562"/>
          </a:xfrm>
        </p:spPr>
        <p:txBody>
          <a:bodyPr rtlCol="0"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813" y="5067300"/>
            <a:ext cx="3913187" cy="1319213"/>
          </a:xfrm>
        </p:spPr>
        <p:txBody>
          <a:bodyPr rtlCol="0"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0" name="Дата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5F37ED-AA74-4321-B3A3-6D9B968160CD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ru-RU" noProof="0"/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CB89C23-E61D-4A9D-8DF6-C712F9E1696D}" type="datetime1">
              <a:rPr lang="ru-RU" noProof="0" smtClean="0"/>
              <a:t>14.05.2026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pPr rtl="0"/>
            <a:fld id="{294A09A9-5501-47C1-A89A-A340965A2BE2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6" y="1362074"/>
            <a:ext cx="5553074" cy="2242441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b="1" dirty="0">
                <a:solidFill>
                  <a:schemeClr val="tx1"/>
                </a:solidFill>
              </a:rPr>
              <a:t>РПГ-игра на языке С++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ru-RU" dirty="0" err="1">
                <a:solidFill>
                  <a:schemeClr val="tx1"/>
                </a:solidFill>
              </a:rPr>
              <a:t>ИСиТ</a:t>
            </a:r>
            <a:r>
              <a:rPr lang="ru-RU" dirty="0">
                <a:solidFill>
                  <a:schemeClr val="tx1"/>
                </a:solidFill>
              </a:rPr>
              <a:t> 2 курс</a:t>
            </a:r>
          </a:p>
          <a:p>
            <a:pPr rtl="0"/>
            <a:r>
              <a:rPr lang="ru-RU" dirty="0">
                <a:solidFill>
                  <a:schemeClr val="tx1"/>
                </a:solidFill>
              </a:rPr>
              <a:t>Бекова Ясмина, </a:t>
            </a:r>
            <a:r>
              <a:rPr lang="ru-RU" dirty="0" err="1">
                <a:solidFill>
                  <a:schemeClr val="tx1"/>
                </a:solidFill>
              </a:rPr>
              <a:t>Гетагазова</a:t>
            </a:r>
            <a:r>
              <a:rPr lang="ru-RU" dirty="0">
                <a:solidFill>
                  <a:schemeClr val="tx1"/>
                </a:solidFill>
              </a:rPr>
              <a:t> Алия, </a:t>
            </a:r>
            <a:r>
              <a:rPr lang="ru-RU" dirty="0" err="1">
                <a:solidFill>
                  <a:schemeClr val="tx1"/>
                </a:solidFill>
              </a:rPr>
              <a:t>Дзаурова</a:t>
            </a:r>
            <a:r>
              <a:rPr lang="ru-RU" dirty="0">
                <a:solidFill>
                  <a:schemeClr val="tx1"/>
                </a:solidFill>
              </a:rPr>
              <a:t> Элина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F6D431C-BA85-DF1F-3DBC-44FCE70BC76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4416" b="11468"/>
          <a:stretch>
            <a:fillRect/>
          </a:stretch>
        </p:blipFill>
        <p:spPr>
          <a:xfrm>
            <a:off x="6495733" y="1440435"/>
            <a:ext cx="4941887" cy="5283200"/>
          </a:xfrm>
          <a:prstGeom prst="rect">
            <a:avLst/>
          </a:prstGeom>
          <a:effectLst>
            <a:outerShdw blurRad="1270000" dist="50800" dir="5400000" sx="1000" sy="1000" algn="ctr" rotWithShape="0">
              <a:srgbClr val="000000"/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Основные</a:t>
            </a:r>
            <a:br>
              <a:rPr lang="ru-RU" dirty="0"/>
            </a:br>
            <a:r>
              <a:rPr lang="ru-RU" dirty="0"/>
              <a:t>моменты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3250" y="1729581"/>
            <a:ext cx="4810125" cy="3937794"/>
          </a:xfrm>
        </p:spPr>
        <p:txBody>
          <a:bodyPr rtlCol="0">
            <a:normAutofit/>
          </a:bodyPr>
          <a:lstStyle/>
          <a:p>
            <a:r>
              <a:rPr lang="ru-RU" dirty="0"/>
              <a:t>01 Используемые технологии и библиотеки</a:t>
            </a:r>
          </a:p>
          <a:p>
            <a:pPr rtl="0"/>
            <a:r>
              <a:rPr lang="ru-RU" dirty="0"/>
              <a:t>02 Механика игры</a:t>
            </a:r>
          </a:p>
          <a:p>
            <a:pPr rtl="0"/>
            <a:r>
              <a:rPr lang="ru-RU" dirty="0"/>
              <a:t>03 Архитектура и структура проекта</a:t>
            </a:r>
          </a:p>
          <a:p>
            <a:pPr rtl="0"/>
            <a:r>
              <a:rPr lang="ru-RU" dirty="0"/>
              <a:t>04 Планы на будущее</a:t>
            </a:r>
          </a:p>
          <a:p>
            <a:pPr rtl="0"/>
            <a:r>
              <a:rPr lang="ru-RU" dirty="0"/>
              <a:t>05 Заключение</a:t>
            </a:r>
          </a:p>
          <a:p>
            <a:pPr rtl="0"/>
            <a:endParaRPr lang="ru-RU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BE03CF35-1C36-4968-AFA3-F22F830A0B1E}" type="datetime1">
              <a:rPr lang="ru-RU" smtClean="0"/>
              <a:t>14.05.2026</a:t>
            </a:fld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Текст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01</a:t>
            </a:r>
          </a:p>
        </p:txBody>
      </p:sp>
      <p:sp>
        <p:nvSpPr>
          <p:cNvPr id="18" name="Заголовок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30" y="669160"/>
            <a:ext cx="4057649" cy="1340615"/>
          </a:xfrm>
        </p:spPr>
        <p:txBody>
          <a:bodyPr rtlCol="0"/>
          <a:lstStyle/>
          <a:p>
            <a:r>
              <a:rPr lang="ru-RU" dirty="0"/>
              <a:t>Технологии и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ru-RU" b="1" dirty="0"/>
              <a:t>Язык программирования</a:t>
            </a:r>
            <a:r>
              <a:rPr lang="ru-RU" dirty="0"/>
              <a:t>: С++(</a:t>
            </a:r>
            <a:r>
              <a:rPr lang="en-US" dirty="0"/>
              <a:t>ISO C++17/C++20</a:t>
            </a:r>
            <a:r>
              <a:rPr lang="ru-RU" dirty="0"/>
              <a:t>)</a:t>
            </a:r>
            <a:endParaRPr lang="en-US" dirty="0"/>
          </a:p>
          <a:p>
            <a:pPr rtl="0"/>
            <a:r>
              <a:rPr lang="ru-RU" b="1" dirty="0"/>
              <a:t>Графический движок</a:t>
            </a:r>
            <a:r>
              <a:rPr lang="ru-RU" dirty="0"/>
              <a:t>: </a:t>
            </a:r>
            <a:r>
              <a:rPr lang="en-US" dirty="0"/>
              <a:t>raylib</a:t>
            </a:r>
          </a:p>
          <a:p>
            <a:r>
              <a:rPr lang="ru-RU" b="1" dirty="0"/>
              <a:t>Сериализация данных</a:t>
            </a:r>
            <a:r>
              <a:rPr lang="ru-RU" dirty="0"/>
              <a:t>: библиотека </a:t>
            </a:r>
            <a:r>
              <a:rPr lang="en-US" dirty="0"/>
              <a:t>nlohmann/json </a:t>
            </a:r>
          </a:p>
          <a:p>
            <a:r>
              <a:rPr lang="ru-RU" b="1" dirty="0"/>
              <a:t>Работа с графикой:</a:t>
            </a:r>
            <a:r>
              <a:rPr lang="ru-RU" dirty="0"/>
              <a:t> Технология 9-Patch (N-</a:t>
            </a:r>
            <a:r>
              <a:rPr lang="ru-RU" dirty="0" err="1"/>
              <a:t>Patch</a:t>
            </a:r>
            <a:r>
              <a:rPr lang="ru-RU" dirty="0"/>
              <a:t>)</a:t>
            </a:r>
            <a:endParaRPr lang="en-US" dirty="0"/>
          </a:p>
          <a:p>
            <a:r>
              <a:rPr lang="ru-RU" b="1" dirty="0"/>
              <a:t>Управление ресурсами:</a:t>
            </a:r>
            <a:r>
              <a:rPr lang="ru-RU" dirty="0"/>
              <a:t> Реализация паттерна RAII</a:t>
            </a:r>
            <a:endParaRPr lang="en-US" dirty="0"/>
          </a:p>
          <a:p>
            <a:r>
              <a:rPr lang="ru-RU" dirty="0"/>
              <a:t>Весь код написан в парадигме ООП, справа представлено пару примеров</a:t>
            </a:r>
          </a:p>
        </p:txBody>
      </p:sp>
      <p:sp>
        <p:nvSpPr>
          <p:cNvPr id="34" name="Дата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7D93DC13-51CB-4C17-9F83-4D304A49C0E3}" type="datetime1">
              <a:rPr lang="ru-RU" smtClean="0"/>
              <a:t>14.05.2026</a:t>
            </a:fld>
            <a:endParaRPr lang="ru-RU"/>
          </a:p>
        </p:txBody>
      </p:sp>
      <p:sp>
        <p:nvSpPr>
          <p:cNvPr id="35" name="Номер слайда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0E4C21A-6F3C-76E2-14B2-BDBEB7D558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-1709" r="27862" b="1709"/>
          <a:stretch>
            <a:fillRect/>
          </a:stretch>
        </p:blipFill>
        <p:spPr>
          <a:xfrm>
            <a:off x="6210300" y="465138"/>
            <a:ext cx="4953000" cy="309086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ED63EC6-8A8B-A0CB-F94A-878B91BA25B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-313" r="40880" b="313"/>
          <a:stretch>
            <a:fillRect/>
          </a:stretch>
        </p:blipFill>
        <p:spPr>
          <a:xfrm>
            <a:off x="6210300" y="3854450"/>
            <a:ext cx="2316163" cy="25384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05BBF87-E14C-F5B8-6D67-2EE978F1F72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-1035" t="313" r="20415" b="-313"/>
          <a:stretch>
            <a:fillRect/>
          </a:stretch>
        </p:blipFill>
        <p:spPr>
          <a:xfrm>
            <a:off x="8847137" y="3862387"/>
            <a:ext cx="2316163" cy="253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BB74BB8A-7BAA-4A6E-9CC4-CB382C68DE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02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9055465-EA9F-436E-A0C3-64912E0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4" y="2714986"/>
            <a:ext cx="7539719" cy="655320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Механика игры</a:t>
            </a:r>
          </a:p>
        </p:txBody>
      </p:sp>
    </p:spTree>
    <p:extLst>
      <p:ext uri="{BB962C8B-B14F-4D97-AF65-F5344CB8AC3E}">
        <p14:creationId xmlns:p14="http://schemas.microsoft.com/office/powerpoint/2010/main" val="1912012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D7702-76AD-27AD-1592-DCE0E149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hlinkClick r:id="rId4" action="ppaction://hlinksldjump"/>
            <a:extLst>
              <a:ext uri="{FF2B5EF4-FFF2-40B4-BE49-F238E27FC236}">
                <a16:creationId xmlns:a16="http://schemas.microsoft.com/office/drawing/2014/main" id="{4C95AD6C-8B0E-B377-A3B1-BA7874100541}"/>
              </a:ext>
            </a:extLst>
          </p:cNvPr>
          <p:cNvSpPr/>
          <p:nvPr/>
        </p:nvSpPr>
        <p:spPr>
          <a:xfrm>
            <a:off x="4286250" y="2638425"/>
            <a:ext cx="3619500" cy="352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065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11CDE-5260-759E-9224-4F183637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hlinkClick r:id="rId4" action="ppaction://hlinksldjump"/>
            <a:extLst>
              <a:ext uri="{FF2B5EF4-FFF2-40B4-BE49-F238E27FC236}">
                <a16:creationId xmlns:a16="http://schemas.microsoft.com/office/drawing/2014/main" id="{323DE685-4D56-680B-BDCB-89E3C4979BFA}"/>
              </a:ext>
            </a:extLst>
          </p:cNvPr>
          <p:cNvSpPr/>
          <p:nvPr/>
        </p:nvSpPr>
        <p:spPr>
          <a:xfrm>
            <a:off x="4286250" y="2638425"/>
            <a:ext cx="3619500" cy="352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5369F0-92F9-7179-B106-E2E874ED1059}"/>
              </a:ext>
            </a:extLst>
          </p:cNvPr>
          <p:cNvSpPr/>
          <p:nvPr/>
        </p:nvSpPr>
        <p:spPr>
          <a:xfrm>
            <a:off x="6734175" y="0"/>
            <a:ext cx="5457825" cy="6858000"/>
          </a:xfrm>
          <a:prstGeom prst="rect">
            <a:avLst/>
          </a:prstGeom>
          <a:solidFill>
            <a:srgbClr val="F2F1EE">
              <a:alpha val="86000"/>
            </a:srgb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948C96D2-AE75-453F-C42C-3F779BB04148}"/>
                  </a:ext>
                </a:extLst>
              </p14:cNvPr>
              <p14:cNvContentPartPr/>
              <p14:nvPr/>
            </p14:nvContentPartPr>
            <p14:xfrm>
              <a:off x="5552880" y="2838390"/>
              <a:ext cx="360" cy="3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948C96D2-AE75-453F-C42C-3F779BB041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4240" y="2784390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43AABE7-5E52-63C0-1A3B-338C964C55AA}"/>
              </a:ext>
            </a:extLst>
          </p:cNvPr>
          <p:cNvSpPr txBox="1"/>
          <p:nvPr/>
        </p:nvSpPr>
        <p:spPr>
          <a:xfrm>
            <a:off x="7000875" y="295275"/>
            <a:ext cx="48577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chemeClr val="accent6">
                    <a:lumMod val="50000"/>
                  </a:schemeClr>
                </a:solidFill>
              </a:rPr>
              <a:t>Инициализация главного меню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46567-463F-DAB0-2A89-D1FD62521327}"/>
              </a:ext>
            </a:extLst>
          </p:cNvPr>
          <p:cNvSpPr txBox="1"/>
          <p:nvPr/>
        </p:nvSpPr>
        <p:spPr>
          <a:xfrm>
            <a:off x="7000875" y="1962401"/>
            <a:ext cx="4495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Play!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 - инициализация игрового мира, загрузка конфигурации NPC из JSON и запуск основного игрового цикла</a:t>
            </a:r>
          </a:p>
          <a:p>
            <a:endParaRPr lang="ru-RU" sz="20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Setting 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- переход в подменю конфигурации (управление параметрами аудиоустройств и переключение видеорежимов)</a:t>
            </a:r>
          </a:p>
          <a:p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Exit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 - корректное освобождение выделенной памяти (VRAM/RAM) и завершение процесса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876035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Дата 13">
            <a:extLst>
              <a:ext uri="{FF2B5EF4-FFF2-40B4-BE49-F238E27FC236}">
                <a16:creationId xmlns:a16="http://schemas.microsoft.com/office/drawing/2014/main" id="{EF6002B2-219C-4BAA-A95C-36538E39AEA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57F41B18-9E5D-4C61-A5EB-B5CFC6BA87CC}" type="datetime1">
              <a:rPr lang="ru-RU" smtClean="0"/>
              <a:t>14.05.2026</a:t>
            </a:fld>
            <a:endParaRPr lang="ru-RU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5515DA6F-E486-4C5A-B98C-B1ACDA64D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 rtl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1A63B-F1EA-42B0-A7E2-7BA213144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Дата 13">
            <a:extLst>
              <a:ext uri="{FF2B5EF4-FFF2-40B4-BE49-F238E27FC236}">
                <a16:creationId xmlns:a16="http://schemas.microsoft.com/office/drawing/2014/main" id="{63496CAA-314A-A108-372D-739A576925D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57F41B18-9E5D-4C61-A5EB-B5CFC6BA87CC}" type="datetime1">
              <a:rPr lang="ru-RU" smtClean="0"/>
              <a:t>14.05.2026</a:t>
            </a:fld>
            <a:endParaRPr lang="ru-RU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CBDB3AB3-1DBD-91CF-59B6-BFF45728D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 rtl="0"/>
              <a:t>8</a:t>
            </a:fld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EC2ECA-5066-0230-4D77-E6C488E3759B}"/>
              </a:ext>
            </a:extLst>
          </p:cNvPr>
          <p:cNvSpPr/>
          <p:nvPr/>
        </p:nvSpPr>
        <p:spPr>
          <a:xfrm>
            <a:off x="0" y="0"/>
            <a:ext cx="5667375" cy="6852107"/>
          </a:xfrm>
          <a:prstGeom prst="rect">
            <a:avLst/>
          </a:prstGeom>
          <a:solidFill>
            <a:srgbClr val="F2F1EE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67AFA3-314A-45B5-7C5C-8220FE997E5A}"/>
              </a:ext>
            </a:extLst>
          </p:cNvPr>
          <p:cNvSpPr/>
          <p:nvPr/>
        </p:nvSpPr>
        <p:spPr>
          <a:xfrm>
            <a:off x="0" y="4805680"/>
            <a:ext cx="12192000" cy="2052320"/>
          </a:xfrm>
          <a:prstGeom prst="rect">
            <a:avLst/>
          </a:prstGeom>
          <a:solidFill>
            <a:srgbClr val="F2F1EE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93B5D-D653-3DA5-1768-C4C187D1E7A0}"/>
              </a:ext>
            </a:extLst>
          </p:cNvPr>
          <p:cNvSpPr txBox="1"/>
          <p:nvPr/>
        </p:nvSpPr>
        <p:spPr>
          <a:xfrm>
            <a:off x="438150" y="314325"/>
            <a:ext cx="4733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2">
                    <a:lumMod val="50000"/>
                  </a:schemeClr>
                </a:solidFill>
              </a:rPr>
              <a:t>Реализация игрового пространства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2A10A-6518-207F-7DA3-8FAD5EEABDDF}"/>
              </a:ext>
            </a:extLst>
          </p:cNvPr>
          <p:cNvSpPr txBox="1"/>
          <p:nvPr/>
        </p:nvSpPr>
        <p:spPr>
          <a:xfrm>
            <a:off x="438150" y="1543050"/>
            <a:ext cx="49149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Игровой процесс построен на взаимодействии сущностей и динамической обработке игрового мира:</a:t>
            </a:r>
          </a:p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2D-камера (Camera2D)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плавно центрируется на игроке с возможностью масштабирования (Zoom 2.0x), обеспечивая правильную фокусировку при перемещении.</a:t>
            </a:r>
          </a:p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Многослойный рендеринг карты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загрузка карты реализована по слоям из формата .csv (слой травы, слой деревьев). Деревья отрисовываются поверх игрока для создания эффекта глубины (псевдо-3D).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349ED-2828-ED9C-832F-4412C2AF70A4}"/>
              </a:ext>
            </a:extLst>
          </p:cNvPr>
          <p:cNvSpPr txBox="1"/>
          <p:nvPr/>
        </p:nvSpPr>
        <p:spPr>
          <a:xfrm>
            <a:off x="438150" y="5790367"/>
            <a:ext cx="9286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Система триггеров и коллизий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функция npc.neighbour(&amp;player) непрерывно рассчитывает дистанцию между персонажами. При входе в зону триггера на экран выводится динамическая подсказка.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59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Текст 57">
            <a:extLst>
              <a:ext uri="{FF2B5EF4-FFF2-40B4-BE49-F238E27FC236}">
                <a16:creationId xmlns:a16="http://schemas.microsoft.com/office/drawing/2014/main" id="{C6655028-4C8E-4A3F-A17E-06A507BFF4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bg1">
                    <a:lumMod val="50000"/>
                    <a:lumOff val="50000"/>
                  </a:schemeClr>
                </a:solidFill>
              </a:rPr>
              <a:t>03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9E24BCE-48CF-4EA0-8CEE-DABDE8C6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681802"/>
            <a:ext cx="8991563" cy="1005839"/>
          </a:xfrm>
        </p:spPr>
        <p:txBody>
          <a:bodyPr rtlCol="0"/>
          <a:lstStyle/>
          <a:p>
            <a:r>
              <a:rPr lang="ru-RU" dirty="0"/>
              <a:t>Архитектура и структура проекта</a:t>
            </a:r>
          </a:p>
        </p:txBody>
      </p:sp>
      <p:sp>
        <p:nvSpPr>
          <p:cNvPr id="36" name="Дата 35">
            <a:extLst>
              <a:ext uri="{FF2B5EF4-FFF2-40B4-BE49-F238E27FC236}">
                <a16:creationId xmlns:a16="http://schemas.microsoft.com/office/drawing/2014/main" id="{F6CE792E-745D-4408-9AB1-740D556972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F4E12B90-B67D-4404-A91D-A66EFFD5B265}" type="datetime1">
              <a:rPr lang="ru-RU" smtClean="0"/>
              <a:t>14.05.2026</a:t>
            </a:fld>
            <a:endParaRPr lang="ru-RU"/>
          </a:p>
        </p:txBody>
      </p:sp>
      <p:sp>
        <p:nvSpPr>
          <p:cNvPr id="37" name="Номер слайда 36">
            <a:extLst>
              <a:ext uri="{FF2B5EF4-FFF2-40B4-BE49-F238E27FC236}">
                <a16:creationId xmlns:a16="http://schemas.microsoft.com/office/drawing/2014/main" id="{BF214639-68C6-49E7-90D4-F4DAFEFB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 rtl="0"/>
              <a:t>9</a:t>
            </a:fld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17A826-56E1-B75C-18BC-3F585C015D78}"/>
              </a:ext>
            </a:extLst>
          </p:cNvPr>
          <p:cNvSpPr txBox="1"/>
          <p:nvPr/>
        </p:nvSpPr>
        <p:spPr>
          <a:xfrm>
            <a:off x="1238250" y="2038350"/>
            <a:ext cx="92011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Архитектура программного комплекса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Проект спроектирован с использованием объектно-ориентированного подхода (ООП) и четким разделением зон ответственности: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Класс Game (Ядро системы)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координирует работу всех компонентов, управляет игровыми состояниями (меню, настройки, геймплей) и обрабатывает глобальный игровой цикл Update / Draw.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Игровые сущности (Player, NPC)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инкапсулируют внутри себя данные о координатах, текстурах, спрайтах и логике поведения персонажей.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Менеджеры ресурсов (map, Button, FontManager)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 - изолируют низкоуровневую работу с памятью (VRAM) и файловой системой (чтение .csv и .json), предоставляя ядру игры простой и безопасный интерфейс.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546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70039366-CC4B-45CC-9139-66129D35D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ru-RU" dirty="0"/>
              <a:t>Планы на будущее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05FC5-E406-FFA8-903F-F35A9A89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DBC22F-BADD-C8F8-8138-DD2FD81C7DDF}"/>
              </a:ext>
            </a:extLst>
          </p:cNvPr>
          <p:cNvSpPr txBox="1"/>
          <p:nvPr/>
        </p:nvSpPr>
        <p:spPr>
          <a:xfrm>
            <a:off x="878840" y="210026"/>
            <a:ext cx="1043432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На текущем этапе сформирован стабильный программный каркас. Дальнейшее масштабирование проекта включает три ключевых направления: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Развитие диалоговой и квестовой систем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 - интеграция графов диалогов в .json для реализации нелинейных квестов, ветвления реплик и проверки условий (флагов) выполнения задач.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Расширение менеджера ресурсов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 - оптимизация динамической подгрузки чанков (участков карты) при увеличении размеров игрового мира, а также создание системы сохранения и загрузки прогресса (Save/Load).</a:t>
            </a:r>
          </a:p>
          <a:p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Улучшение UI/UX и аудиодвижка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 - добавление адаптивного масштабирования интерфейса (UI Scale) под любые разрешения, анимации плавного появления текста (Typewriter effect) и позиционирования 2D-звука.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0248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>
            <a:extLst>
              <a:ext uri="{FF2B5EF4-FFF2-40B4-BE49-F238E27FC236}">
                <a16:creationId xmlns:a16="http://schemas.microsoft.com/office/drawing/2014/main" id="{F665E632-89DE-4E4B-8A35-FD6D46E9AA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05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825CB-5684-4E97-80FA-A48BC074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10196830" cy="438308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ru-RU" sz="1800" dirty="0">
                <a:solidFill>
                  <a:schemeClr val="accent2">
                    <a:lumMod val="50000"/>
                  </a:schemeClr>
                </a:solidFill>
              </a:rPr>
              <a:t>В ходе выполнения проекта были успешно решены все поставленные проектные и технологические задачи:</a:t>
            </a:r>
          </a:p>
          <a:p>
            <a:r>
              <a:rPr lang="ru-RU" sz="1800" b="1" dirty="0">
                <a:solidFill>
                  <a:schemeClr val="accent2">
                    <a:lumMod val="50000"/>
                  </a:schemeClr>
                </a:solidFill>
              </a:rPr>
              <a:t>Разработан рабочий прототип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</a:rPr>
              <a:t> 2D RPG-игры на языке C++ с использованием легковесной графической библиотеки raylib.</a:t>
            </a:r>
          </a:p>
          <a:p>
            <a:r>
              <a:rPr lang="ru-RU" sz="1800" b="1" dirty="0">
                <a:solidFill>
                  <a:schemeClr val="accent2">
                    <a:lumMod val="50000"/>
                  </a:schemeClr>
                </a:solidFill>
              </a:rPr>
              <a:t>Спроектирована модульная архитектура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</a:rPr>
              <a:t> приложения с разделением логики на независимые классы сущностей и менеджеров ресурсов, что обеспечивает масштабируемость кода.</a:t>
            </a:r>
          </a:p>
          <a:p>
            <a:r>
              <a:rPr lang="ru-RU" sz="1800" b="1" dirty="0">
                <a:solidFill>
                  <a:schemeClr val="accent2">
                    <a:lumMod val="50000"/>
                  </a:schemeClr>
                </a:solidFill>
              </a:rPr>
              <a:t>Реализованы базовые игровые системы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</a:rPr>
              <a:t>: многослойный рендеринг карт (CSV), парсинг и вывод динамических диалогов (JSON), адаптивный интерфейс (9-Patch) и обработка триггеров коллизий.</a:t>
            </a:r>
          </a:p>
          <a:p>
            <a:r>
              <a:rPr lang="ru-RU" sz="1800" b="1" dirty="0">
                <a:solidFill>
                  <a:schemeClr val="accent2">
                    <a:lumMod val="50000"/>
                  </a:schemeClr>
                </a:solidFill>
              </a:rPr>
              <a:t>Оптимизировано управление памятью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</a:rPr>
              <a:t> (VRAM/RAM) за счет строгого соблюдения идиомы RAII в деструкторах управляющих классов.</a:t>
            </a:r>
          </a:p>
          <a:p>
            <a:pPr marL="0" indent="0" rtl="0">
              <a:lnSpc>
                <a:spcPct val="150000"/>
              </a:lnSpc>
              <a:buNone/>
            </a:pPr>
            <a:endParaRPr lang="ru-RU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indent="0" rtl="0">
              <a:lnSpc>
                <a:spcPct val="150000"/>
              </a:lnSpc>
              <a:buNone/>
            </a:pPr>
            <a:endParaRPr lang="ru-RU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indent="0" rtl="0">
              <a:lnSpc>
                <a:spcPct val="150000"/>
              </a:lnSpc>
              <a:buNone/>
            </a:pPr>
            <a:endParaRPr lang="ru-RU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3" name="Дата 22">
            <a:extLst>
              <a:ext uri="{FF2B5EF4-FFF2-40B4-BE49-F238E27FC236}">
                <a16:creationId xmlns:a16="http://schemas.microsoft.com/office/drawing/2014/main" id="{A36A89F3-138D-4102-9FF2-6E1293F6AFB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2F33AC43-0B11-4E9D-A3BD-CD6A53568F7E}" type="datetime1">
              <a:rPr lang="ru-RU" smtClean="0"/>
              <a:t>14.05.2026</a:t>
            </a:fld>
            <a:endParaRPr lang="ru-RU"/>
          </a:p>
        </p:txBody>
      </p:sp>
      <p:sp>
        <p:nvSpPr>
          <p:cNvPr id="24" name="Номер слайда 23">
            <a:extLst>
              <a:ext uri="{FF2B5EF4-FFF2-40B4-BE49-F238E27FC236}">
                <a16:creationId xmlns:a16="http://schemas.microsoft.com/office/drawing/2014/main" id="{EF02AD77-17EE-49EB-8387-86DED6AD8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ru-RU" smtClean="0"/>
              <a:pPr rtl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778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E0787D-DFB9-41E3-A9F2-635EF6994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11DCE3-EF7E-4B20-B9AA-EDAF93AA345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1CD1994-5BE9-4A2F-A57E-C48F09B48E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TM16411245</Template>
  <TotalTime>85</TotalTime>
  <Words>595</Words>
  <Application>Microsoft Office PowerPoint</Application>
  <PresentationFormat>Широкоэкранный</PresentationFormat>
  <Paragraphs>82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Biome Light</vt:lpstr>
      <vt:lpstr>Calibri</vt:lpstr>
      <vt:lpstr>Тема Office</vt:lpstr>
      <vt:lpstr>РПГ-игра на языке С++</vt:lpstr>
      <vt:lpstr>Основные моменты</vt:lpstr>
      <vt:lpstr>Технологии и библиотеки</vt:lpstr>
      <vt:lpstr>Механика игры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и структура проекта</vt:lpstr>
      <vt:lpstr>Планы на будущее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Яса Бекова</cp:lastModifiedBy>
  <cp:revision>5</cp:revision>
  <dcterms:created xsi:type="dcterms:W3CDTF">2026-05-14T18:01:26Z</dcterms:created>
  <dcterms:modified xsi:type="dcterms:W3CDTF">2026-05-14T19:29:42Z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